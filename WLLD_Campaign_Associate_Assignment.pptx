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11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01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rive.google.com/file/d/1CN_rBDYq4AOzaywPecA__cETPXtbNQeC/view?usp=sharing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hyperlink" Target="https://www.linkedin.com/in/kunalbinjewar/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WLLD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F2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ASSOCIATE — ASSIGNMENT SUBMISSION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Hi, I'm </a:t>
            </a:r>
            <a:r>
              <a:rPr lang="en-US" sz="4800" b="1" dirty="0">
                <a:solidFill>
                  <a:srgbClr val="FFB6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Kunal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D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this is my pitch for why I belong on the WLLD team.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6400800" cy="2606040"/>
          </a:xfrm>
          <a:prstGeom prst="roundRect">
            <a:avLst>
              <a:gd name="adj" fmla="val 42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977640"/>
            <a:ext cx="868680" cy="868680"/>
          </a:xfrm>
          <a:prstGeom prst="ellipse">
            <a:avLst/>
          </a:prstGeom>
          <a:solidFill>
            <a:srgbClr val="FF5C39"/>
          </a:solidFill>
          <a:ln/>
          <a:effectLst>
            <a:outerShdw blurRad="101600" dist="38100" dir="2700000" algn="bl" rotWithShape="0">
              <a:srgbClr val="1A1033">
                <a:alpha val="18000"/>
              </a:srgbClr>
            </a:outerShdw>
          </a:effectLst>
        </p:spPr>
      </p:sp>
      <p:pic>
        <p:nvPicPr>
          <p:cNvPr id="8" name="Image 0" descr="assets/pla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88" y="422452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3977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VIDEO GOES HERE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965960" y="44348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D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“The Campaign I Absolutely Loved.” Paste your video link/embed here after recording — slide design is otherwise final.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14400" y="5349240"/>
            <a:ext cx="566928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5"/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VIDEO</a:t>
            </a:r>
            <a:endParaRPr lang="en-US" sz="1200" dirty="0">
              <a:solidFill>
                <a:schemeClr val="accent5"/>
              </a:solidFill>
              <a:latin typeface="Book Antiqua" panose="0204060205030503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223760" y="3611880"/>
            <a:ext cx="4389120" cy="2606040"/>
          </a:xfrm>
          <a:prstGeom prst="roundRect">
            <a:avLst>
              <a:gd name="adj" fmla="val 4211"/>
            </a:avLst>
          </a:prstGeom>
          <a:solidFill>
            <a:srgbClr val="1A1033">
              <a:alpha val="92000"/>
            </a:srgbClr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0" y="38221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60 SECONDS COVER: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498080" y="4206240"/>
            <a:ext cx="3931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intro — name, what I do, brands I've worked with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I'm excited for the Campaign Associate role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to WLLD for the opportunity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campaign I loved + why (5-6 sharp points)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94360" cy="594360"/>
          </a:xfrm>
          <a:prstGeom prst="ellipse">
            <a:avLst/>
          </a:prstGeom>
          <a:solidFill>
            <a:srgbClr val="FF5C39"/>
          </a:solidFill>
          <a:ln/>
          <a:effectLst>
            <a:outerShdw blurRad="101600" dist="38100" dir="2700000" algn="bl" rotWithShape="0">
              <a:srgbClr val="1A1033">
                <a:alpha val="18000"/>
              </a:srgbClr>
            </a:outerShdw>
          </a:effectLst>
        </p:spPr>
      </p:sp>
      <p:pic>
        <p:nvPicPr>
          <p:cNvPr id="3" name="Image 0" descr="assets/he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6751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5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7498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9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Campaign I Absolutely Loved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E0257E">
              <a:alpha val="1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627632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1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Campaign: Ariel India — “#ShareTheLoad” (2015–2022, multi-wave). A long-running campaign confronting household gender roles — one of the most awarded and culturally impactful Indian campaigns of the decade.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11064240" cy="2999232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A1033">
                <a:alpha val="10000"/>
              </a:srgbClr>
            </a:outerShdw>
          </a:effectLst>
        </p:spPr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9" name="Text 6"/>
          <p:cNvSpPr/>
          <p:nvPr/>
        </p:nvSpPr>
        <p:spPr>
          <a:xfrm>
            <a:off x="868680" y="2606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B1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SCRIPT — WHAT TO SAY, IN ORDER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2971800"/>
            <a:ext cx="10424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Hi, I'm Kunal — GTM Strategist &amp; Growth Consultant. I've worked with Zepto, Britannia, Angel One, and boAt on growth campaigns.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excited about the Campaign Associate role at WLLD — I've already collaborated with your team on campaigns and would love to join full-time.</a:t>
            </a:r>
            <a:endParaRPr lang="en-US" sz="125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campaign I loved: Ariel India's “#ShareTheLoad,” 2015–2022.</a:t>
            </a:r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FontTx/>
              <a:buChar char="●"/>
            </a:pPr>
            <a:r>
              <a:rPr lang="en-US" sz="1250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execution — TV + digital, no exotic locations, no huge production — but the emotional return was massive.</a:t>
            </a:r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FontTx/>
              <a:buChar char="●"/>
            </a:pPr>
            <a:r>
              <a:rPr lang="en-US" sz="1250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stuck with me: it's honest, culturally grounded, and still unforgettable years later.</a:t>
            </a:r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FontTx/>
              <a:buChar char="●"/>
            </a:pPr>
            <a:r>
              <a:rPr lang="en-US" sz="1250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won Cannes Lions and moved product off shelves — proof that purpose and sales aren't opposites.</a:t>
            </a:r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FontTx/>
              <a:buChar char="●"/>
            </a:pPr>
            <a:r>
              <a:rPr lang="en-US" sz="1250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to WLLD for this opportunity.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94360" cy="594360"/>
          </a:xfrm>
          <a:prstGeom prst="ellipse">
            <a:avLst/>
          </a:prstGeom>
          <a:solidFill>
            <a:srgbClr val="16C2B0"/>
          </a:solidFill>
          <a:ln/>
          <a:effectLst>
            <a:outerShdw blurRad="101600" dist="38100" dir="2700000" algn="bl" rotWithShape="0">
              <a:srgbClr val="1A1033">
                <a:alpha val="18000"/>
              </a:srgbClr>
            </a:outerShdw>
          </a:effectLst>
        </p:spPr>
      </p:sp>
      <p:pic>
        <p:nvPicPr>
          <p:cNvPr id="3" name="Image 0" descr="assets/laug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6C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70408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9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Meme Radar Test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280160" y="117043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memes circulating right now — where they're showing up, why they're working, and how a brand could ride them without forcing it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A1033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13232" y="1856232"/>
            <a:ext cx="3191256" cy="566928"/>
          </a:xfrm>
          <a:prstGeom prst="roundRect">
            <a:avLst>
              <a:gd name="adj" fmla="val 12903"/>
            </a:avLst>
          </a:prstGeom>
          <a:solidFill>
            <a:srgbClr val="FF5C39">
              <a:alpha val="1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85623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5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“Ek-ek cup chai aur bola jaaye?”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13232" y="2496312"/>
            <a:ext cx="31912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870" b="1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87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Panchayat (S3/S4) — Bhushan's line</a:t>
            </a:r>
            <a:endParaRPr lang="en-US" sz="87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b="1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endParaRPr lang="en-US" sz="87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Reels, X, WhatsApp/group chats</a:t>
            </a:r>
            <a:endParaRPr lang="en-US" sz="87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b="1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</a:t>
            </a:r>
            <a:endParaRPr lang="en-US" sz="87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Universal, low-effort relatability — fits literally any “let's pause and regroup” moment, from work fatigue to long meetings.</a:t>
            </a:r>
            <a:endParaRPr lang="en-US" sz="87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b="1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fit: </a:t>
            </a:r>
            <a:endParaRPr lang="en-US" sz="87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F&amp;B or workplace brand can caption a chai/break moment with this — zero forcing needed, the line already means “time for a breather.”</a:t>
            </a:r>
            <a:endParaRPr lang="en-US" sz="870" dirty="0"/>
          </a:p>
        </p:txBody>
      </p:sp>
      <p:sp>
        <p:nvSpPr>
          <p:cNvPr id="11" name="Shape 8"/>
          <p:cNvSpPr/>
          <p:nvPr/>
        </p:nvSpPr>
        <p:spPr>
          <a:xfrm>
            <a:off x="4297680" y="169164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A1033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62272" y="1856232"/>
            <a:ext cx="3191256" cy="566928"/>
          </a:xfrm>
          <a:prstGeom prst="roundRect">
            <a:avLst>
              <a:gd name="adj" fmla="val 12903"/>
            </a:avLst>
          </a:prstGeom>
          <a:solidFill>
            <a:srgbClr val="16C2B0">
              <a:alpha val="14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0" y="185623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C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“Dekh raha hai na Binod”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462272" y="2496312"/>
            <a:ext cx="31912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870" b="1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87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Panchayat — Bhushan to Bhutkun</a:t>
            </a:r>
            <a:endParaRPr lang="en-US" sz="87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b="1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endParaRPr lang="en-US" sz="87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meme pages (@theviralfever, @rvcjinsta), X</a:t>
            </a:r>
            <a:endParaRPr lang="en-US" sz="87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b="1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</a:t>
            </a:r>
            <a:endParaRPr lang="en-US" sz="87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shared disbelief at something absurd — the addressee 'Binod' has become shorthand for 'can you believe this.'</a:t>
            </a:r>
            <a:endParaRPr lang="en-US" sz="87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b="1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fit: </a:t>
            </a:r>
            <a:endParaRPr lang="en-US" sz="87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brands reacting to industry news, a competitor's move, or an absurd customer-service moment — self-aware brand commentary.</a:t>
            </a:r>
            <a:endParaRPr lang="en-US" sz="870" dirty="0"/>
          </a:p>
        </p:txBody>
      </p:sp>
      <p:sp>
        <p:nvSpPr>
          <p:cNvPr id="15" name="Shape 12"/>
          <p:cNvSpPr/>
          <p:nvPr/>
        </p:nvSpPr>
        <p:spPr>
          <a:xfrm>
            <a:off x="8046720" y="169164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A1033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856232"/>
            <a:ext cx="3191256" cy="566928"/>
          </a:xfrm>
          <a:prstGeom prst="roundRect">
            <a:avLst>
              <a:gd name="adj" fmla="val 12903"/>
            </a:avLst>
          </a:prstGeom>
          <a:solidFill>
            <a:srgbClr val="E0257E">
              <a:alpha val="14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8321040" y="185623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02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“Mogambo Khush Hua”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211312" y="2496312"/>
            <a:ext cx="31912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870" b="1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87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India (1987) — Amrish Puri's villain line</a:t>
            </a:r>
            <a:endParaRPr lang="en-US" sz="87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b="1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endParaRPr lang="en-US" sz="87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Reels, X, WhatsApp — used by literally every generation</a:t>
            </a:r>
            <a:endParaRPr lang="en-US" sz="87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b="1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</a:t>
            </a:r>
            <a:endParaRPr lang="en-US" sz="87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Bollywood's most quoted villain lines ever — used sarcastically for 'unexpected joy,' works across every age group, which almost no meme does.</a:t>
            </a:r>
            <a:endParaRPr lang="en-US" sz="87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b="1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fit: </a:t>
            </a:r>
            <a:endParaRPr lang="en-US" sz="87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any brand celebrating a win, a launch, or even a customer's smug victory — instantly funny without needing context.</a:t>
            </a:r>
            <a:endParaRPr lang="en-US" sz="870" dirty="0"/>
          </a:p>
        </p:txBody>
      </p:sp>
      <p:sp>
        <p:nvSpPr>
          <p:cNvPr id="19" name="Shape 16"/>
          <p:cNvSpPr/>
          <p:nvPr/>
        </p:nvSpPr>
        <p:spPr>
          <a:xfrm>
            <a:off x="548640" y="41605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A1033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13232" y="4325112"/>
            <a:ext cx="3191256" cy="566928"/>
          </a:xfrm>
          <a:prstGeom prst="roundRect">
            <a:avLst>
              <a:gd name="adj" fmla="val 12903"/>
            </a:avLst>
          </a:prstGeom>
          <a:solidFill>
            <a:srgbClr val="FFB627">
              <a:alpha val="14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432511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“Don't underestimate the power of a common man”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13232" y="4965192"/>
            <a:ext cx="31912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870" b="1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87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Express (2013) — Shah Rukh Khan's line</a:t>
            </a:r>
            <a:endParaRPr lang="en-US" sz="87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b="1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endParaRPr lang="en-US" sz="87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Reels, X, WhatsApp — resurfaces constantly in underdog moments</a:t>
            </a:r>
            <a:endParaRPr lang="en-US" sz="87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b="1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</a:t>
            </a:r>
            <a:endParaRPr lang="en-US" sz="87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decade old and still gets pulled out every time someone overlooked wins big — genuinely timeless, not a passing trend.</a:t>
            </a:r>
            <a:endParaRPr lang="en-US" sz="87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b="1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fit: </a:t>
            </a:r>
            <a:endParaRPr lang="en-US" sz="87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brands telling small-business, underdog, or first-time-buyer success stories — instantly recognisable, adds drama for free.</a:t>
            </a:r>
            <a:endParaRPr lang="en-US" sz="870" dirty="0"/>
          </a:p>
        </p:txBody>
      </p:sp>
      <p:sp>
        <p:nvSpPr>
          <p:cNvPr id="23" name="Shape 20"/>
          <p:cNvSpPr/>
          <p:nvPr/>
        </p:nvSpPr>
        <p:spPr>
          <a:xfrm>
            <a:off x="4297680" y="41605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A1033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462272" y="4325112"/>
            <a:ext cx="3191256" cy="566928"/>
          </a:xfrm>
          <a:prstGeom prst="roundRect">
            <a:avLst>
              <a:gd name="adj" fmla="val 12903"/>
            </a:avLst>
          </a:prstGeom>
          <a:solidFill>
            <a:srgbClr val="3B1364">
              <a:alpha val="14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0" y="432511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3B1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Disappointed Indian Guy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462272" y="4965192"/>
            <a:ext cx="31912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870" b="1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87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fan Sarim Akhtar's viral reaction shot</a:t>
            </a:r>
            <a:endParaRPr lang="en-US" sz="87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b="1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endParaRPr lang="en-US" sz="87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X, global meme pages — also huge outside India</a:t>
            </a:r>
            <a:endParaRPr lang="en-US" sz="87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b="1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</a:t>
            </a:r>
            <a:endParaRPr lang="en-US" sz="87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few Indian-origin memes that went fully global — the face alone communicates 'devastated' with zero text needed.</a:t>
            </a:r>
            <a:endParaRPr lang="en-US" sz="87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b="1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fit: </a:t>
            </a:r>
            <a:endParaRPr lang="en-US" sz="87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870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brands reacting to a missed deal, a sold-out item, or any 'we feel your pain' moment — universally understood, instantly relatable.</a:t>
            </a:r>
            <a:endParaRPr lang="en-US" sz="870" dirty="0"/>
          </a:p>
        </p:txBody>
      </p:sp>
      <p:sp>
        <p:nvSpPr>
          <p:cNvPr id="27" name="Text 24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94360" cy="594360"/>
          </a:xfrm>
          <a:prstGeom prst="ellipse">
            <a:avLst/>
          </a:prstGeom>
          <a:solidFill>
            <a:srgbClr val="E0257E"/>
          </a:solidFill>
          <a:ln/>
          <a:effectLst>
            <a:outerShdw blurRad="101600" dist="38100" dir="2700000" algn="bl" rotWithShape="0">
              <a:srgbClr val="1A1033">
                <a:alpha val="18000"/>
              </a:srgbClr>
            </a:outerShdw>
          </a:effectLst>
        </p:spPr>
      </p:sp>
      <p:pic>
        <p:nvPicPr>
          <p:cNvPr id="3" name="Image 0" descr="assets/fir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6751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2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7498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If I Ran Nykaa's Internet Personality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Brief: Nykaa is launching a major sale. Goal — stronger, louder presence on X (Twitter) and Reddit to drive conversation and engagement around it.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2514600"/>
            <a:ext cx="640080" cy="640080"/>
          </a:xfrm>
          <a:prstGeom prst="ellipse">
            <a:avLst/>
          </a:prstGeom>
          <a:solidFill>
            <a:srgbClr val="16C2B0"/>
          </a:solidFill>
          <a:ln/>
          <a:effectLst>
            <a:outerShdw blurRad="101600" dist="38100" dir="2700000" algn="bl" rotWithShape="0">
              <a:srgbClr val="1A1033">
                <a:alpha val="18000"/>
              </a:srgbClr>
            </a:outerShdw>
          </a:effectLst>
        </p:spPr>
      </p:sp>
      <p:pic>
        <p:nvPicPr>
          <p:cNvPr id="9" name="Image 1" descr="assets/twitt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6974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3337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 Tweets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822960" y="38404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punchy, screenshot-worthy. Built to be shared and quote-tweeted, not just liked.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2960" y="5212080"/>
            <a:ext cx="2971800" cy="685800"/>
          </a:xfrm>
          <a:prstGeom prst="roundRect">
            <a:avLst>
              <a:gd name="adj" fmla="val 10667"/>
            </a:avLst>
          </a:prstGeom>
          <a:solidFill>
            <a:srgbClr val="16C2B0">
              <a:alpha val="15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987552" y="5212080"/>
            <a:ext cx="2642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“POV: your cart has 14 items, the sale ends in 6 hours...”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343400" y="224028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617720" y="2514600"/>
            <a:ext cx="640080" cy="640080"/>
          </a:xfrm>
          <a:prstGeom prst="ellipse">
            <a:avLst/>
          </a:prstGeom>
          <a:solidFill>
            <a:srgbClr val="FF5C39"/>
          </a:solidFill>
          <a:ln/>
          <a:effectLst>
            <a:outerShdw blurRad="101600" dist="38100" dir="2700000" algn="bl" rotWithShape="0">
              <a:srgbClr val="1A1033">
                <a:alpha val="18000"/>
              </a:srgbClr>
            </a:outerShdw>
          </a:effectLst>
        </p:spPr>
      </p:sp>
      <p:pic>
        <p:nvPicPr>
          <p:cNvPr id="16" name="Image 2" descr="assets/reddi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26974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17720" y="3337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 Reddit Posts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4617720" y="38404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Reddit's native voice — frank, self-aware, no corporate gloss.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617720" y="5212080"/>
            <a:ext cx="2971800" cy="685800"/>
          </a:xfrm>
          <a:prstGeom prst="roundRect">
            <a:avLst>
              <a:gd name="adj" fmla="val 10667"/>
            </a:avLst>
          </a:prstGeom>
          <a:solidFill>
            <a:srgbClr val="FF5C39">
              <a:alpha val="1500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4782312" y="5212080"/>
            <a:ext cx="2642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in r/IndianSkincareAddicts + r/india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138160" y="224028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412480" y="2514600"/>
            <a:ext cx="640080" cy="640080"/>
          </a:xfrm>
          <a:prstGeom prst="ellipse">
            <a:avLst/>
          </a:prstGeom>
          <a:solidFill>
            <a:srgbClr val="FFB627"/>
          </a:solidFill>
          <a:ln/>
          <a:effectLst>
            <a:outerShdw blurRad="101600" dist="38100" dir="2700000" algn="bl" rotWithShape="0">
              <a:srgbClr val="1A1033">
                <a:alpha val="18000"/>
              </a:srgbClr>
            </a:outerShdw>
          </a:effectLst>
        </p:spPr>
      </p:sp>
      <p:pic>
        <p:nvPicPr>
          <p:cNvPr id="23" name="Image 3" descr="assets/bulb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269748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412480" y="3337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Strategy</a:t>
            </a:r>
            <a:endParaRPr lang="en-US" sz="1900" dirty="0"/>
          </a:p>
        </p:txBody>
      </p:sp>
      <p:sp>
        <p:nvSpPr>
          <p:cNvPr id="25" name="Text 19"/>
          <p:cNvSpPr/>
          <p:nvPr/>
        </p:nvSpPr>
        <p:spPr>
          <a:xfrm>
            <a:off x="8412480" y="38404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9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approach builds real conversation, not just impressions.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8412480" y="5212080"/>
            <a:ext cx="2971800" cy="685800"/>
          </a:xfrm>
          <a:prstGeom prst="roundRect">
            <a:avLst>
              <a:gd name="adj" fmla="val 10667"/>
            </a:avLst>
          </a:prstGeom>
          <a:solidFill>
            <a:srgbClr val="FFB627">
              <a:alpha val="15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8577072" y="5212080"/>
            <a:ext cx="2642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&gt; broadcast, on both platforms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See next 2 slides for the actual tweets, Reddit posts, and the engagement logic behind them.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48640" cy="548640"/>
          </a:xfrm>
          <a:prstGeom prst="ellipse">
            <a:avLst/>
          </a:prstGeom>
          <a:solidFill>
            <a:srgbClr val="16C2B0"/>
          </a:solidFill>
          <a:ln/>
          <a:effectLst>
            <a:outerShdw blurRad="101600" dist="38100" dir="2700000" algn="bl" rotWithShape="0">
              <a:srgbClr val="1A1033">
                <a:alpha val="18000"/>
              </a:srgbClr>
            </a:outerShdw>
          </a:effectLst>
        </p:spPr>
      </p:sp>
      <p:pic>
        <p:nvPicPr>
          <p:cNvPr id="3" name="Image 0" descr="assets/twitt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5778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6C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PART 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40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9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 Tweets for Nykaa's Sale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3520440" cy="45262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A1033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1572768"/>
            <a:ext cx="457200" cy="457200"/>
          </a:xfrm>
          <a:prstGeom prst="ellipse">
            <a:avLst/>
          </a:prstGeom>
          <a:solidFill>
            <a:srgbClr val="1A1033"/>
          </a:solidFill>
          <a:ln/>
        </p:spPr>
      </p:sp>
      <p:pic>
        <p:nvPicPr>
          <p:cNvPr id="8" name="Image 1" descr="assets/twitt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15910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@NykaaWoman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325880" y="184708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Campaign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777240" y="224028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POV: your cart has 14 items, the sale ends in 6 hours, and you're explaining to yourself why you "need" a 6th lip tint. We get it. We built the sale around exactly this moment.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77240" y="4572000"/>
            <a:ext cx="329184" cy="329184"/>
          </a:xfrm>
          <a:prstGeom prst="ellipse">
            <a:avLst/>
          </a:prstGeom>
          <a:solidFill>
            <a:srgbClr val="F2EEE7"/>
          </a:solidFill>
          <a:ln/>
        </p:spPr>
      </p:sp>
      <p:pic>
        <p:nvPicPr>
          <p:cNvPr id="13" name="Image 2" descr="assets/commen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645152"/>
            <a:ext cx="182880" cy="18288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280160" y="4572000"/>
            <a:ext cx="329184" cy="329184"/>
          </a:xfrm>
          <a:prstGeom prst="ellipse">
            <a:avLst/>
          </a:prstGeom>
          <a:solidFill>
            <a:srgbClr val="F2EEE7"/>
          </a:solidFill>
          <a:ln/>
        </p:spPr>
      </p:sp>
      <p:pic>
        <p:nvPicPr>
          <p:cNvPr id="15" name="Image 3" descr="assets/shar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312" y="4645152"/>
            <a:ext cx="182880" cy="18288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1783080" y="4572000"/>
            <a:ext cx="329184" cy="329184"/>
          </a:xfrm>
          <a:prstGeom prst="ellipse">
            <a:avLst/>
          </a:prstGeom>
          <a:solidFill>
            <a:srgbClr val="F2EEE7"/>
          </a:solidFill>
          <a:ln/>
        </p:spPr>
      </p:sp>
      <p:pic>
        <p:nvPicPr>
          <p:cNvPr id="17" name="Image 4" descr="assets/thumb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6232" y="4645152"/>
            <a:ext cx="182880" cy="18288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777240" y="5120640"/>
            <a:ext cx="3063240" cy="502920"/>
          </a:xfrm>
          <a:prstGeom prst="roundRect">
            <a:avLst>
              <a:gd name="adj" fmla="val 54545"/>
            </a:avLst>
          </a:prstGeom>
          <a:solidFill>
            <a:srgbClr val="FF5C39">
              <a:alpha val="12000"/>
            </a:srgbClr>
          </a:solidFill>
          <a:ln/>
        </p:spPr>
      </p:sp>
      <p:sp>
        <p:nvSpPr>
          <p:cNvPr id="19" name="Text 12"/>
          <p:cNvSpPr/>
          <p:nvPr/>
        </p:nvSpPr>
        <p:spPr>
          <a:xfrm>
            <a:off x="777240" y="51206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5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Relatable + screenshot bait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4315968" y="1371600"/>
            <a:ext cx="3520440" cy="45262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A1033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4517136" y="1572768"/>
            <a:ext cx="457200" cy="457200"/>
          </a:xfrm>
          <a:prstGeom prst="ellipse">
            <a:avLst/>
          </a:prstGeom>
          <a:solidFill>
            <a:srgbClr val="1A1033"/>
          </a:solidFill>
          <a:ln/>
        </p:spPr>
      </p:sp>
      <p:pic>
        <p:nvPicPr>
          <p:cNvPr id="22" name="Image 5" descr="assets/twitt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691640"/>
            <a:ext cx="219456" cy="21945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093208" y="15910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@NykaaWoman</a:t>
            </a:r>
            <a:endParaRPr lang="en-US" sz="1250" dirty="0"/>
          </a:p>
        </p:txBody>
      </p:sp>
      <p:sp>
        <p:nvSpPr>
          <p:cNvPr id="24" name="Text 16"/>
          <p:cNvSpPr/>
          <p:nvPr/>
        </p:nvSpPr>
        <p:spPr>
          <a:xfrm>
            <a:off x="5093208" y="184708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Campaign</a:t>
            </a:r>
            <a:endParaRPr lang="en-US" sz="950" dirty="0"/>
          </a:p>
        </p:txBody>
      </p:sp>
      <p:sp>
        <p:nvSpPr>
          <p:cNvPr id="25" name="Text 17"/>
          <p:cNvSpPr/>
          <p:nvPr/>
        </p:nvSpPr>
        <p:spPr>
          <a:xfrm>
            <a:off x="4544568" y="224028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that are not on sale: your skin texture anxiety at 1am, your group chat's opinions, your ex. Things that ARE on sale: literally everything that helps with all three. Starts now.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4544568" y="4572000"/>
            <a:ext cx="329184" cy="329184"/>
          </a:xfrm>
          <a:prstGeom prst="ellipse">
            <a:avLst/>
          </a:prstGeom>
          <a:solidFill>
            <a:srgbClr val="F2EEE7"/>
          </a:solidFill>
          <a:ln/>
        </p:spPr>
      </p:sp>
      <p:pic>
        <p:nvPicPr>
          <p:cNvPr id="27" name="Image 6" descr="assets/commen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4645152"/>
            <a:ext cx="182880" cy="18288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5047488" y="4572000"/>
            <a:ext cx="329184" cy="329184"/>
          </a:xfrm>
          <a:prstGeom prst="ellipse">
            <a:avLst/>
          </a:prstGeom>
          <a:solidFill>
            <a:srgbClr val="F2EEE7"/>
          </a:solidFill>
          <a:ln/>
        </p:spPr>
      </p:sp>
      <p:pic>
        <p:nvPicPr>
          <p:cNvPr id="29" name="Image 7" descr="assets/shar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4645152"/>
            <a:ext cx="182880" cy="182880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5550408" y="4572000"/>
            <a:ext cx="329184" cy="329184"/>
          </a:xfrm>
          <a:prstGeom prst="ellipse">
            <a:avLst/>
          </a:prstGeom>
          <a:solidFill>
            <a:srgbClr val="F2EEE7"/>
          </a:solidFill>
          <a:ln/>
        </p:spPr>
      </p:sp>
      <p:pic>
        <p:nvPicPr>
          <p:cNvPr id="31" name="Image 8" descr="assets/thumb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4645152"/>
            <a:ext cx="182880" cy="182880"/>
          </a:xfrm>
          <a:prstGeom prst="rect">
            <a:avLst/>
          </a:prstGeom>
        </p:spPr>
      </p:pic>
      <p:sp>
        <p:nvSpPr>
          <p:cNvPr id="32" name="Shape 21"/>
          <p:cNvSpPr/>
          <p:nvPr/>
        </p:nvSpPr>
        <p:spPr>
          <a:xfrm>
            <a:off x="4544568" y="5120640"/>
            <a:ext cx="3063240" cy="502920"/>
          </a:xfrm>
          <a:prstGeom prst="roundRect">
            <a:avLst>
              <a:gd name="adj" fmla="val 54545"/>
            </a:avLst>
          </a:prstGeom>
          <a:solidFill>
            <a:srgbClr val="FF5C39">
              <a:alpha val="12000"/>
            </a:srgbClr>
          </a:solidFill>
          <a:ln/>
        </p:spPr>
      </p:sp>
      <p:sp>
        <p:nvSpPr>
          <p:cNvPr id="33" name="Text 22"/>
          <p:cNvSpPr/>
          <p:nvPr/>
        </p:nvSpPr>
        <p:spPr>
          <a:xfrm>
            <a:off x="4544568" y="51206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5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Thread-starter, quote-tweetable</a:t>
            </a:r>
            <a:endParaRPr lang="en-US" sz="1050" dirty="0"/>
          </a:p>
        </p:txBody>
      </p:sp>
      <p:sp>
        <p:nvSpPr>
          <p:cNvPr id="34" name="Shape 23"/>
          <p:cNvSpPr/>
          <p:nvPr/>
        </p:nvSpPr>
        <p:spPr>
          <a:xfrm>
            <a:off x="8083296" y="1371600"/>
            <a:ext cx="3520440" cy="45262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A1033">
                <a:alpha val="12000"/>
              </a:srgbClr>
            </a:outerShdw>
          </a:effectLst>
        </p:spPr>
      </p:sp>
      <p:sp>
        <p:nvSpPr>
          <p:cNvPr id="35" name="Shape 24"/>
          <p:cNvSpPr/>
          <p:nvPr/>
        </p:nvSpPr>
        <p:spPr>
          <a:xfrm>
            <a:off x="8284464" y="1572768"/>
            <a:ext cx="457200" cy="457200"/>
          </a:xfrm>
          <a:prstGeom prst="ellipse">
            <a:avLst/>
          </a:prstGeom>
          <a:solidFill>
            <a:srgbClr val="1A1033"/>
          </a:solidFill>
          <a:ln/>
        </p:spPr>
      </p:sp>
      <p:pic>
        <p:nvPicPr>
          <p:cNvPr id="36" name="Image 9" descr="assets/twitt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1691640"/>
            <a:ext cx="219456" cy="219456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8860536" y="15910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@NykaaWoman</a:t>
            </a:r>
            <a:endParaRPr lang="en-US" sz="1250" dirty="0"/>
          </a:p>
        </p:txBody>
      </p:sp>
      <p:sp>
        <p:nvSpPr>
          <p:cNvPr id="38" name="Text 26"/>
          <p:cNvSpPr/>
          <p:nvPr/>
        </p:nvSpPr>
        <p:spPr>
          <a:xfrm>
            <a:off x="8860536" y="184708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Campaign</a:t>
            </a:r>
            <a:endParaRPr lang="en-US" sz="950" dirty="0"/>
          </a:p>
        </p:txBody>
      </p:sp>
      <p:sp>
        <p:nvSpPr>
          <p:cNvPr id="39" name="Text 27"/>
          <p:cNvSpPr/>
          <p:nvPr/>
        </p:nvSpPr>
        <p:spPr>
          <a:xfrm>
            <a:off x="8311896" y="224028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asked our team to pick ONE thing they're restocking this sale without asking finance first. The answers got heated. Reply with yours — we're judging, lovingly.</a:t>
            </a:r>
            <a:endParaRPr lang="en-US" sz="1400" dirty="0"/>
          </a:p>
        </p:txBody>
      </p:sp>
      <p:sp>
        <p:nvSpPr>
          <p:cNvPr id="40" name="Shape 28"/>
          <p:cNvSpPr/>
          <p:nvPr/>
        </p:nvSpPr>
        <p:spPr>
          <a:xfrm>
            <a:off x="8311896" y="4572000"/>
            <a:ext cx="329184" cy="329184"/>
          </a:xfrm>
          <a:prstGeom prst="ellipse">
            <a:avLst/>
          </a:prstGeom>
          <a:solidFill>
            <a:srgbClr val="F2EEE7"/>
          </a:solidFill>
          <a:ln/>
        </p:spPr>
      </p:sp>
      <p:pic>
        <p:nvPicPr>
          <p:cNvPr id="41" name="Image 10" descr="assets/commen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048" y="4645152"/>
            <a:ext cx="182880" cy="182880"/>
          </a:xfrm>
          <a:prstGeom prst="rect">
            <a:avLst/>
          </a:prstGeom>
        </p:spPr>
      </p:pic>
      <p:sp>
        <p:nvSpPr>
          <p:cNvPr id="42" name="Shape 29"/>
          <p:cNvSpPr/>
          <p:nvPr/>
        </p:nvSpPr>
        <p:spPr>
          <a:xfrm>
            <a:off x="8814816" y="4572000"/>
            <a:ext cx="329184" cy="329184"/>
          </a:xfrm>
          <a:prstGeom prst="ellipse">
            <a:avLst/>
          </a:prstGeom>
          <a:solidFill>
            <a:srgbClr val="F2EEE7"/>
          </a:solidFill>
          <a:ln/>
        </p:spPr>
      </p:sp>
      <p:pic>
        <p:nvPicPr>
          <p:cNvPr id="43" name="Image 11" descr="assets/shar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7968" y="4645152"/>
            <a:ext cx="182880" cy="182880"/>
          </a:xfrm>
          <a:prstGeom prst="rect">
            <a:avLst/>
          </a:prstGeom>
        </p:spPr>
      </p:pic>
      <p:sp>
        <p:nvSpPr>
          <p:cNvPr id="44" name="Shape 30"/>
          <p:cNvSpPr/>
          <p:nvPr/>
        </p:nvSpPr>
        <p:spPr>
          <a:xfrm>
            <a:off x="9317736" y="4572000"/>
            <a:ext cx="329184" cy="329184"/>
          </a:xfrm>
          <a:prstGeom prst="ellipse">
            <a:avLst/>
          </a:prstGeom>
          <a:solidFill>
            <a:srgbClr val="F2EEE7"/>
          </a:solidFill>
          <a:ln/>
        </p:spPr>
      </p:sp>
      <p:pic>
        <p:nvPicPr>
          <p:cNvPr id="45" name="Image 12" descr="assets/thumb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0888" y="4645152"/>
            <a:ext cx="182880" cy="182880"/>
          </a:xfrm>
          <a:prstGeom prst="rect">
            <a:avLst/>
          </a:prstGeom>
        </p:spPr>
      </p:pic>
      <p:sp>
        <p:nvSpPr>
          <p:cNvPr id="46" name="Shape 31"/>
          <p:cNvSpPr/>
          <p:nvPr/>
        </p:nvSpPr>
        <p:spPr>
          <a:xfrm>
            <a:off x="8311896" y="5120640"/>
            <a:ext cx="3063240" cy="502920"/>
          </a:xfrm>
          <a:prstGeom prst="roundRect">
            <a:avLst>
              <a:gd name="adj" fmla="val 54545"/>
            </a:avLst>
          </a:prstGeom>
          <a:solidFill>
            <a:srgbClr val="FF5C39">
              <a:alpha val="12000"/>
            </a:srgbClr>
          </a:solidFill>
          <a:ln/>
        </p:spPr>
      </p:sp>
      <p:sp>
        <p:nvSpPr>
          <p:cNvPr id="47" name="Text 32"/>
          <p:cNvSpPr/>
          <p:nvPr/>
        </p:nvSpPr>
        <p:spPr>
          <a:xfrm>
            <a:off x="8311896" y="51206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5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replies + UGC</a:t>
            </a:r>
            <a:endParaRPr lang="en-US" sz="1050" dirty="0"/>
          </a:p>
        </p:txBody>
      </p:sp>
      <p:sp>
        <p:nvSpPr>
          <p:cNvPr id="48" name="Text 33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48640" cy="548640"/>
          </a:xfrm>
          <a:prstGeom prst="ellipse">
            <a:avLst/>
          </a:prstGeom>
          <a:solidFill>
            <a:srgbClr val="FF5C39"/>
          </a:solidFill>
          <a:ln/>
          <a:effectLst>
            <a:outerShdw blurRad="101600" dist="38100" dir="2700000" algn="bl" rotWithShape="0">
              <a:srgbClr val="1A1033">
                <a:alpha val="18000"/>
              </a:srgbClr>
            </a:outerShdw>
          </a:effectLst>
        </p:spPr>
      </p:sp>
      <p:pic>
        <p:nvPicPr>
          <p:cNvPr id="3" name="Image 0" descr="assets/reddi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5778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5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PART B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40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9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 Reddit Posts for Nykaa's Sale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44068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A1033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600200"/>
            <a:ext cx="420624" cy="420624"/>
          </a:xfrm>
          <a:prstGeom prst="ellipse">
            <a:avLst/>
          </a:prstGeom>
          <a:solidFill>
            <a:srgbClr val="1A1033"/>
          </a:solidFill>
          <a:ln/>
        </p:spPr>
      </p:sp>
      <p:pic>
        <p:nvPicPr>
          <p:cNvPr id="8" name="Image 1" descr="assets/reddi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709928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157276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r/IndianSkincareAddicts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325880" y="182880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by u/nykaa_official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822960" y="22402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q: is the Nykaa sale actually worth waiting for, or should I just buy now?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822960" y="3063240"/>
            <a:ext cx="4892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plant, genuinely asking before I impulse-buy. Their sale starts this week — anyone tracked actual price drops on serums/sunscreens in past sales vs regular price? Want real numbers, not "it's a great deal" marketing speak.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22960" y="4892040"/>
            <a:ext cx="4892040" cy="777240"/>
          </a:xfrm>
          <a:prstGeom prst="roundRect">
            <a:avLst>
              <a:gd name="adj" fmla="val 11765"/>
            </a:avLst>
          </a:prstGeom>
          <a:solidFill>
            <a:srgbClr val="16C2B0">
              <a:alpha val="10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960120" y="493776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C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</a:t>
            </a:r>
            <a:r>
              <a:rPr lang="en-US" sz="1050" dirty="0">
                <a:solidFill>
                  <a:srgbClr val="1F4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with transparency — inviting scrutiny instead of avoiding it builds trust with a skeptical sub.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63640" y="1371600"/>
            <a:ext cx="544068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A1033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92240" y="1600200"/>
            <a:ext cx="420624" cy="420624"/>
          </a:xfrm>
          <a:prstGeom prst="ellipse">
            <a:avLst/>
          </a:prstGeom>
          <a:solidFill>
            <a:srgbClr val="1A1033"/>
          </a:solidFill>
          <a:ln/>
        </p:spPr>
      </p:sp>
      <p:pic>
        <p:nvPicPr>
          <p:cNvPr id="17" name="Image 2" descr="assets/reddi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1709928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40880" y="157276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r/india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040880" y="182880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by u/nykaa_official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6537960" y="22402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Nykaa sale is back — unpopular opinion: the real win is the return policy, not the discount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6537960" y="3063240"/>
            <a:ext cx="4892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Everyone's talking % off but nobody mentions you can actually return half-used products if they don't suit you. That's rarer than people think for Indian beauty e-comm. Sale starts [date], dropping this here before my wishlist disappears.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537960" y="4892040"/>
            <a:ext cx="4892040" cy="777240"/>
          </a:xfrm>
          <a:prstGeom prst="roundRect">
            <a:avLst>
              <a:gd name="adj" fmla="val 11765"/>
            </a:avLst>
          </a:prstGeom>
          <a:solidFill>
            <a:srgbClr val="16C2B0">
              <a:alpha val="1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6675120" y="493776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C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</a:t>
            </a:r>
            <a:r>
              <a:rPr lang="en-US" sz="1050" dirty="0">
                <a:solidFill>
                  <a:srgbClr val="1F4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Reframes the sale around a genuinely useful, lesser-known angle — gives Reddit something to debate/upvote beyond "discount post."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94360" cy="594360"/>
          </a:xfrm>
          <a:prstGeom prst="ellipse">
            <a:avLst/>
          </a:prstGeom>
          <a:solidFill>
            <a:srgbClr val="FFB627"/>
          </a:solidFill>
          <a:ln/>
          <a:effectLst>
            <a:outerShdw blurRad="101600" dist="38100" dir="2700000" algn="bl" rotWithShape="0">
              <a:srgbClr val="1A1033">
                <a:alpha val="18000"/>
              </a:srgbClr>
            </a:outerShdw>
          </a:effectLst>
        </p:spPr>
      </p:sp>
      <p:pic>
        <p:nvPicPr>
          <p:cNvPr id="3" name="Image 0" descr="assets/bul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6751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PART C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280160" y="7498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This Builds Real Engagement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FF5C39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554480" y="194767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Conversation &gt; Broadcast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8680" y="269748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9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Tweets ask a question or invite a reply instead of just announcing the sale — engagement becomes the content, not an afterthought.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16C2B0"/>
          </a:solidFill>
          <a:ln/>
        </p:spPr>
      </p:sp>
      <p:sp>
        <p:nvSpPr>
          <p:cNvPr id="13" name="Text 10"/>
          <p:cNvSpPr/>
          <p:nvPr/>
        </p:nvSpPr>
        <p:spPr>
          <a:xfrm>
            <a:off x="6537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7269480" y="194767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Native to each platform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583680" y="269748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9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copy is punchy and shareable; Reddit copy drops the brand voice and sounds like a real person posting, because that sub will call out anything that smells like an ad.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42062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" y="4480560"/>
            <a:ext cx="548640" cy="548640"/>
          </a:xfrm>
          <a:prstGeom prst="ellipse">
            <a:avLst/>
          </a:prstGeom>
          <a:solidFill>
            <a:srgbClr val="E0257E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1554480" y="446227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Self-aware, not salesy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68680" y="521208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9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Acknowledging the absurdity of impulse-buying or asking Reddit to fact-check the sale builds trust instead of skepticism.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263640" y="42062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4480560"/>
            <a:ext cx="548640" cy="54864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3" name="Text 20"/>
          <p:cNvSpPr/>
          <p:nvPr/>
        </p:nvSpPr>
        <p:spPr>
          <a:xfrm>
            <a:off x="653796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7269480" y="446227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Built to be screenshotted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583680" y="521208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9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piece is short and quotable enough to live outside the platform — in group chats, in screenshots, in other threads.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48640" cy="548640"/>
          </a:xfrm>
          <a:prstGeom prst="ellipse">
            <a:avLst/>
          </a:prstGeom>
          <a:solidFill>
            <a:srgbClr val="E0257E"/>
          </a:solidFill>
          <a:ln/>
          <a:effectLst>
            <a:outerShdw blurRad="101600" dist="38100" dir="2700000" algn="bl" rotWithShape="0">
              <a:srgbClr val="1A1033">
                <a:alpha val="18000"/>
              </a:srgbClr>
            </a:outerShdw>
          </a:effectLst>
        </p:spPr>
      </p:sp>
      <p:pic>
        <p:nvPicPr>
          <p:cNvPr id="3" name="Image 0" descr="assets/palett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5778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02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400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94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Internet Moodboard — My Personality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B1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CREATORS I FOLLOW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A1033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FF5C39">
              <a:alpha val="8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17320" y="17647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Kusha Kapila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417320" y="20208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@kushakapila  ·  Lifestyle / comedy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31520" y="24688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“Turns everyday desi-life chaos into characters everyone recognises — sharp writing, not just a pretty feed.”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15968" y="16002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A1033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98848" y="1783080"/>
            <a:ext cx="548640" cy="548640"/>
          </a:xfrm>
          <a:prstGeom prst="ellipse">
            <a:avLst/>
          </a:prstGeom>
          <a:solidFill>
            <a:srgbClr val="16C2B0">
              <a:alpha val="8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Text 12"/>
          <p:cNvSpPr/>
          <p:nvPr/>
        </p:nvSpPr>
        <p:spPr>
          <a:xfrm>
            <a:off x="449884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184648" y="17647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Shamani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184648" y="20208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@rajshamani  ·  Business / podcast / entrepreneurship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498848" y="24688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“Pulls in wildly different kinds of people — founders, athletes, creators — and always finds the angle that turns into a real talking point online.”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083296" y="16002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A1033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66176" y="1783080"/>
            <a:ext cx="548640" cy="548640"/>
          </a:xfrm>
          <a:prstGeom prst="ellipse">
            <a:avLst/>
          </a:prstGeom>
          <a:solidFill>
            <a:srgbClr val="FFB627">
              <a:alpha val="85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8266176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951976" y="17647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Kabita Singh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951976" y="20208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@kabitaskitchen  ·  Food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266176" y="24688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“No-nonsense recipes, consistent voice for years — proof a simple format can still outlast every trend cycle.”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4864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B1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FAVORITE MEMES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8357616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B1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BRAND I LOVE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48640" y="384048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A1033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31520" y="4023360"/>
            <a:ext cx="3154680" cy="1280160"/>
          </a:xfrm>
          <a:prstGeom prst="roundRect">
            <a:avLst>
              <a:gd name="adj" fmla="val 5714"/>
            </a:avLst>
          </a:prstGeom>
          <a:solidFill>
            <a:srgbClr val="FF5C39">
              <a:alpha val="12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868680" y="40233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5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“Dekh raha hai na Binod”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31520" y="53949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Panchayat — my go-to whenever something is mildly chaotic and words aren't enough.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315968" y="384048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A1033">
                <a:alpha val="1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4636008" y="40233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2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Mogambo Khush Hua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4498848" y="53949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Mr. India (1987) — the ultimate reaction for any unexpectedly great moment.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8357616" y="384048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FF0000"/>
          </a:solidFill>
          <a:ln/>
        </p:spPr>
      </p:sp>
      <p:sp>
        <p:nvSpPr>
          <p:cNvPr id="36" name="Shape 33"/>
          <p:cNvSpPr/>
          <p:nvPr/>
        </p:nvSpPr>
        <p:spPr>
          <a:xfrm>
            <a:off x="8586216" y="4069080"/>
            <a:ext cx="502920" cy="502920"/>
          </a:xfrm>
          <a:prstGeom prst="ellipse">
            <a:avLst/>
          </a:prstGeom>
          <a:solidFill>
            <a:srgbClr val="FFB627"/>
          </a:solidFill>
          <a:ln/>
        </p:spPr>
      </p:sp>
      <p:pic>
        <p:nvPicPr>
          <p:cNvPr id="37" name="Image 1" descr="assets/sta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76" y="4206240"/>
            <a:ext cx="228600" cy="22860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9226296" y="4069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39" name="Text 35"/>
          <p:cNvSpPr/>
          <p:nvPr/>
        </p:nvSpPr>
        <p:spPr>
          <a:xfrm>
            <a:off x="8586216" y="47091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9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social team treats every reply and caption like a punchline, not a brand-safety checklist — and they've kept that voice consistent for years across IPL moment-marketing, X banter, and ad campaigns. Rare for a brand that big to still feel this unfiltered.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10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DF1E8DE1-53CA-AFAD-B122-E9015C68AA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1124" y="1705802"/>
            <a:ext cx="640080" cy="64008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34FD71CA-DBB0-7A7F-2071-7CA096B645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001" y="1660051"/>
            <a:ext cx="589677" cy="785969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4560BAD0-85C1-CFBD-BEEC-C238945378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7903" y="1670594"/>
            <a:ext cx="588610" cy="798286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0D5C259-7943-7A22-D2BC-27EC910182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35944" y="3909354"/>
            <a:ext cx="1148799" cy="776652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029F7B99-119B-001A-C44F-77E63BE858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30019" y="3840480"/>
            <a:ext cx="3520440" cy="1636067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535E3552-A442-052A-C00B-1983589A8EA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8080" y="3909354"/>
            <a:ext cx="3138120" cy="15671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914400"/>
            <a:ext cx="1920240" cy="192024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532120" y="1325880"/>
            <a:ext cx="1097280" cy="1097280"/>
          </a:xfrm>
          <a:prstGeom prst="ellipse">
            <a:avLst/>
          </a:prstGeom>
          <a:solidFill>
            <a:srgbClr val="FF5C39"/>
          </a:solidFill>
          <a:ln/>
        </p:spPr>
      </p:sp>
      <p:pic>
        <p:nvPicPr>
          <p:cNvPr id="4" name="Image 0" descr="assets/he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6916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01752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You, 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645920" y="379476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D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grateful for the chance to take this on — WLLD's been on my radar for a while for how it builds campaigns, and getting to think like part of the team for a few days, even just for this assignment, was honestly fun.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108960" y="4892040"/>
            <a:ext cx="5943600" cy="868680"/>
          </a:xfrm>
          <a:prstGeom prst="roundRect">
            <a:avLst>
              <a:gd name="adj" fmla="val 4736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108960" y="489204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Kunal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+919725746345  ·  kunalbinjewar8@gmail.com  ·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LinkedIn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645920" y="594360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9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“Kuch toh log kahenge, logon ka kaam hai kehna” — but I'd love for what you say about this submission to be: hire them.</a:t>
            </a:r>
            <a:endParaRPr lang="en-US" sz="1200" dirty="0"/>
          </a:p>
        </p:txBody>
      </p:sp>
      <p:pic>
        <p:nvPicPr>
          <p:cNvPr id="32" name="Image 1" descr="assets/wldd_logo_transparent.png">
            <a:extLst>
              <a:ext uri="{FF2B5EF4-FFF2-40B4-BE49-F238E27FC236}">
                <a16:creationId xmlns:a16="http://schemas.microsoft.com/office/drawing/2014/main" id="{ABBED937-1CA0-CC57-F8AD-A1E44FFA6B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2380" y="3081528"/>
            <a:ext cx="868680" cy="7589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1687</Words>
  <Application>Microsoft Office PowerPoint</Application>
  <PresentationFormat>Widescreen</PresentationFormat>
  <Paragraphs>163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Book Antiqua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Campaign Associate Assignment — WLLD</dc:title>
  <dc:subject>PptxGenJS Presentation</dc:subject>
  <dc:creator>Campaign Associate Applicant</dc:creator>
  <cp:lastModifiedBy>kunal binjewar</cp:lastModifiedBy>
  <cp:revision>3</cp:revision>
  <dcterms:created xsi:type="dcterms:W3CDTF">2026-06-20T16:05:45Z</dcterms:created>
  <dcterms:modified xsi:type="dcterms:W3CDTF">2026-06-21T08:47:56Z</dcterms:modified>
</cp:coreProperties>
</file>